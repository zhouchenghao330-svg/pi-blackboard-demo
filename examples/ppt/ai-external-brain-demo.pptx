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d8f8bfef99a44c92b395f779e430e8b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d8f8bfef99a44c92b395f779e430e8b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zone-column"/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</p:sp>
      <p:grpSp>
        <p:nvGrpSpPr>
          <p:cNvPr id="6" name="header"/>
          <p:cNvGrpSpPr/>
          <p:nvPr/>
        </p:nvGrpSpPr>
        <p:grpSpPr>
          <a:xfrm>
            <a:off x="746760" y="708660"/>
            <a:ext cx="10683240" cy="811530"/>
            <a:chOff x="746760" y="708660"/>
            <a:chExt cx="10683240" cy="811530"/>
          </a:xfrm>
        </p:grpSpPr>
        <p:sp>
          <p:nvSpPr>
            <p:cNvPr id="3" name="TextBox 3"/>
            <p:cNvSpPr txBox="1"/>
            <p:nvPr/>
          </p:nvSpPr>
          <p:spPr>
            <a:xfrm>
              <a:off x="755904" y="708660"/>
              <a:ext cx="1883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外脑 DEMO · 能力一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6760" y="933450"/>
              <a:ext cx="49793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Pi 对话与 PDF Blackboard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428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15" name="dialogue-zone"/>
          <p:cNvGrpSpPr/>
          <p:nvPr/>
        </p:nvGrpSpPr>
        <p:grpSpPr>
          <a:xfrm>
            <a:off x="752856" y="1721168"/>
            <a:ext cx="2655189" cy="2130933"/>
            <a:chOff x="752856" y="1721168"/>
            <a:chExt cx="2655189" cy="2130933"/>
          </a:xfrm>
        </p:grpSpPr>
        <p:sp>
          <p:nvSpPr>
            <p:cNvPr id="7" name="TextBox 7"/>
            <p:cNvSpPr txBox="1"/>
            <p:nvPr/>
          </p:nvSpPr>
          <p:spPr>
            <a:xfrm>
              <a:off x="755142" y="17211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对话式交互入口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809625" y="2139950"/>
              <a:ext cx="285751" cy="269876"/>
              <a:chOff x="809625" y="2139950"/>
              <a:chExt cx="285751" cy="26987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89000" y="2219325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565C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89000" y="22828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1565C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09625" y="2139950"/>
                <a:ext cx="285751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69876">
                    <a:moveTo>
                      <a:pt x="95250" y="222250"/>
                    </a:moveTo>
                    <a:lnTo>
                      <a:pt x="47625" y="222250"/>
                    </a:lnTo>
                    <a:cubicBezTo>
                      <a:pt x="21322" y="222250"/>
                      <a:pt x="0" y="200928"/>
                      <a:pt x="0" y="1746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174625"/>
                    </a:lnTo>
                    <a:cubicBezTo>
                      <a:pt x="285751" y="200928"/>
                      <a:pt x="264428" y="222250"/>
                      <a:pt x="238125" y="222250"/>
                    </a:cubicBezTo>
                    <a:lnTo>
                      <a:pt x="190500" y="222250"/>
                    </a:lnTo>
                    <a:lnTo>
                      <a:pt x="142875" y="269876"/>
                    </a:lnTo>
                    <a:lnTo>
                      <a:pt x="95250" y="222250"/>
                    </a:lnTo>
                  </a:path>
                </a:pathLst>
              </a:custGeom>
              <a:noFill/>
              <a:ln w="31750">
                <a:solidFill>
                  <a:srgbClr val="1565C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64920" y="2119312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用自然语言对话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856" y="2663190"/>
              <a:ext cx="2407158" cy="752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8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向 Pi 提问、下达任务，</a:t>
              </a:r>
              <a:br/>
              <a:r>
                <a:rPr lang="zh-CN" sz="18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由对话驱动后续能力。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142" y="3588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对话是唯一的操作起点</a:t>
              </a:r>
            </a:p>
          </p:txBody>
        </p:sp>
      </p:grpSp>
      <p:grpSp>
        <p:nvGrpSpPr>
          <p:cNvPr id="47" name="blackboard-field"/>
          <p:cNvGrpSpPr/>
          <p:nvPr/>
        </p:nvGrpSpPr>
        <p:grpSpPr>
          <a:xfrm>
            <a:off x="5708142" y="1909762"/>
            <a:ext cx="5721858" cy="3995738"/>
            <a:chOff x="5708142" y="1909762"/>
            <a:chExt cx="5721858" cy="3995738"/>
          </a:xfrm>
        </p:grpSpPr>
        <p:grpSp>
          <p:nvGrpSpPr>
            <p:cNvPr id="24" name="blackboard-header"/>
            <p:cNvGrpSpPr/>
            <p:nvPr/>
          </p:nvGrpSpPr>
          <p:grpSpPr>
            <a:xfrm>
              <a:off x="5708142" y="1909762"/>
              <a:ext cx="3449706" cy="723139"/>
              <a:chOff x="5708142" y="1909762"/>
              <a:chExt cx="3449706" cy="723139"/>
            </a:xfrm>
          </p:grpSpPr>
          <p:grpSp>
            <p:nvGrpSpPr>
              <p:cNvPr id="21" name="Group 21"/>
              <p:cNvGrpSpPr/>
              <p:nvPr/>
            </p:nvGrpSpPr>
            <p:grpSpPr>
              <a:xfrm>
                <a:off x="5794375" y="1914525"/>
                <a:ext cx="222250" cy="285751"/>
                <a:chOff x="5794375" y="1914525"/>
                <a:chExt cx="222250" cy="285751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5937250" y="1914525"/>
                  <a:ext cx="7937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79375">
                      <a:moveTo>
                        <a:pt x="0" y="0"/>
                      </a:moveTo>
                      <a:lnTo>
                        <a:pt x="0" y="63500"/>
                      </a:lnTo>
                      <a:cubicBezTo>
                        <a:pt x="0" y="72268"/>
                        <a:pt x="7107" y="79375"/>
                        <a:pt x="15875" y="79375"/>
                      </a:cubicBezTo>
                      <a:lnTo>
                        <a:pt x="79375" y="79375"/>
                      </a:lnTo>
                    </a:path>
                  </a:pathLst>
                </a:custGeom>
                <a:noFill/>
                <a:ln w="31750">
                  <a:solidFill>
                    <a:srgbClr val="0F2B46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5794375" y="1914525"/>
                  <a:ext cx="222250" cy="285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285751">
                      <a:moveTo>
                        <a:pt x="190500" y="285751"/>
                      </a:moveTo>
                      <a:lnTo>
                        <a:pt x="31750" y="285751"/>
                      </a:lnTo>
                      <a:cubicBezTo>
                        <a:pt x="14215" y="285751"/>
                        <a:pt x="0" y="271536"/>
                        <a:pt x="0" y="254001"/>
                      </a:cubicBez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142875" y="0"/>
                      </a:lnTo>
                      <a:lnTo>
                        <a:pt x="222250" y="79375"/>
                      </a:lnTo>
                      <a:lnTo>
                        <a:pt x="222250" y="254001"/>
                      </a:lnTo>
                      <a:cubicBezTo>
                        <a:pt x="222250" y="271536"/>
                        <a:pt x="208035" y="285751"/>
                        <a:pt x="190500" y="285751"/>
                      </a:cubicBezTo>
                    </a:path>
                  </a:pathLst>
                </a:custGeom>
                <a:noFill/>
                <a:ln w="31750">
                  <a:solidFill>
                    <a:srgbClr val="0F2B46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5857875" y="200977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0" y="0"/>
                      </a:moveTo>
                      <a:lnTo>
                        <a:pt x="15875" y="0"/>
                      </a:lnTo>
                    </a:path>
                  </a:pathLst>
                </a:custGeom>
                <a:noFill/>
                <a:ln w="31750">
                  <a:solidFill>
                    <a:srgbClr val="0F2B46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5857875" y="2073275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31750">
                  <a:solidFill>
                    <a:srgbClr val="0F2B46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5857875" y="2136776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31750">
                  <a:solidFill>
                    <a:srgbClr val="0F2B46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6217920" y="1909762"/>
                <a:ext cx="2939928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PDF Blackboard 索引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708142" y="2368868"/>
                <a:ext cx="31142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视觉阅读 PDF，生成可回查的导航索引</a:t>
                </a:r>
              </a:p>
            </p:txBody>
          </p:sp>
        </p:grpSp>
        <p:sp>
          <p:nvSpPr>
            <p:cNvPr id="25" name="blackboard-frame"/>
            <p:cNvSpPr/>
            <p:nvPr/>
          </p:nvSpPr>
          <p:spPr>
            <a:xfrm>
              <a:off x="5715000" y="2686050"/>
              <a:ext cx="5715000" cy="3219450"/>
            </a:xfrm>
            <a:prstGeom prst="rect">
              <a:avLst/>
            </a:prstGeom>
            <a:noFill/>
            <a:ln w="9525">
              <a:solidFill>
                <a:srgbClr val="CBD5E1"/>
              </a:solidFill>
            </a:ln>
          </p:spPr>
        </p:sp>
        <p:grpSp>
          <p:nvGrpSpPr>
            <p:cNvPr id="34" name="cap-visual-index"/>
            <p:cNvGrpSpPr/>
            <p:nvPr/>
          </p:nvGrpSpPr>
          <p:grpSpPr>
            <a:xfrm>
              <a:off x="5974842" y="3044190"/>
              <a:ext cx="3284982" cy="636461"/>
              <a:chOff x="5974842" y="3044190"/>
              <a:chExt cx="3284982" cy="636461"/>
            </a:xfrm>
          </p:grpSpPr>
          <p:grpSp>
            <p:nvGrpSpPr>
              <p:cNvPr id="31" name="Group 31"/>
              <p:cNvGrpSpPr/>
              <p:nvPr/>
            </p:nvGrpSpPr>
            <p:grpSpPr>
              <a:xfrm>
                <a:off x="6019800" y="3065682"/>
                <a:ext cx="238124" cy="185518"/>
                <a:chOff x="6019800" y="3065682"/>
                <a:chExt cx="238124" cy="185518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6019800" y="3230782"/>
                  <a:ext cx="228599" cy="20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20418">
                      <a:moveTo>
                        <a:pt x="0" y="20418"/>
                      </a:moveTo>
                      <a:cubicBezTo>
                        <a:pt x="35364" y="0"/>
                        <a:pt x="78935" y="0"/>
                        <a:pt x="114300" y="20418"/>
                      </a:cubicBezTo>
                      <a:cubicBezTo>
                        <a:pt x="149664" y="0"/>
                        <a:pt x="193235" y="0"/>
                        <a:pt x="228599" y="20418"/>
                      </a:cubicBez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019800" y="3065682"/>
                  <a:ext cx="228599" cy="20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20418">
                      <a:moveTo>
                        <a:pt x="0" y="20418"/>
                      </a:moveTo>
                      <a:cubicBezTo>
                        <a:pt x="35364" y="0"/>
                        <a:pt x="78935" y="0"/>
                        <a:pt x="114300" y="20418"/>
                      </a:cubicBezTo>
                      <a:cubicBezTo>
                        <a:pt x="149664" y="0"/>
                        <a:pt x="193235" y="0"/>
                        <a:pt x="228599" y="20418"/>
                      </a:cubicBez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019800" y="3086100"/>
                  <a:ext cx="9525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65100">
                      <a:moveTo>
                        <a:pt x="0" y="0"/>
                      </a:moveTo>
                      <a:lnTo>
                        <a:pt x="0" y="165100"/>
                      </a:ln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134100" y="3086100"/>
                  <a:ext cx="9525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65100">
                      <a:moveTo>
                        <a:pt x="0" y="0"/>
                      </a:moveTo>
                      <a:lnTo>
                        <a:pt x="0" y="165100"/>
                      </a:ln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248399" y="3086100"/>
                  <a:ext cx="9525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65100">
                      <a:moveTo>
                        <a:pt x="0" y="0"/>
                      </a:moveTo>
                      <a:lnTo>
                        <a:pt x="0" y="165100"/>
                      </a:ln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6467856" y="304419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视觉阅读生成导航索引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74842" y="3416618"/>
                <a:ext cx="32849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模型直接看页面，输出可跳转的章节索引</a:t>
                </a:r>
              </a:p>
            </p:txBody>
          </p:sp>
        </p:grpSp>
        <p:grpSp>
          <p:nvGrpSpPr>
            <p:cNvPr id="40" name="cap-page-review"/>
            <p:cNvGrpSpPr/>
            <p:nvPr/>
          </p:nvGrpSpPr>
          <p:grpSpPr>
            <a:xfrm>
              <a:off x="5974842" y="3958590"/>
              <a:ext cx="2739771" cy="636461"/>
              <a:chOff x="5974842" y="3958590"/>
              <a:chExt cx="2739771" cy="636461"/>
            </a:xfrm>
          </p:grpSpPr>
          <p:grpSp>
            <p:nvGrpSpPr>
              <p:cNvPr id="37" name="Group 37"/>
              <p:cNvGrpSpPr/>
              <p:nvPr/>
            </p:nvGrpSpPr>
            <p:grpSpPr>
              <a:xfrm>
                <a:off x="6019800" y="4000500"/>
                <a:ext cx="228599" cy="152400"/>
                <a:chOff x="6019800" y="4000500"/>
                <a:chExt cx="228599" cy="152400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6108700" y="40513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019800" y="4000500"/>
                  <a:ext cx="228599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52400">
                      <a:moveTo>
                        <a:pt x="228599" y="76200"/>
                      </a:moveTo>
                      <a:cubicBezTo>
                        <a:pt x="198120" y="127000"/>
                        <a:pt x="160020" y="152400"/>
                        <a:pt x="114300" y="152400"/>
                      </a:cubicBezTo>
                      <a:cubicBezTo>
                        <a:pt x="68580" y="152400"/>
                        <a:pt x="30480" y="127000"/>
                        <a:pt x="0" y="76200"/>
                      </a:cubicBezTo>
                      <a:cubicBezTo>
                        <a:pt x="30480" y="25400"/>
                        <a:pt x="68580" y="0"/>
                        <a:pt x="114300" y="0"/>
                      </a:cubicBezTo>
                      <a:cubicBezTo>
                        <a:pt x="160020" y="0"/>
                        <a:pt x="198120" y="25400"/>
                        <a:pt x="228599" y="76200"/>
                      </a:cubicBez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6467856" y="39585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按页回看原页核实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974842" y="4331018"/>
                <a:ext cx="27397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索引条目可回到对应原始页面核对</a:t>
                </a:r>
              </a:p>
            </p:txBody>
          </p:sp>
        </p:grpSp>
        <p:grpSp>
          <p:nvGrpSpPr>
            <p:cNvPr id="46" name="cap-user-fix"/>
            <p:cNvGrpSpPr/>
            <p:nvPr/>
          </p:nvGrpSpPr>
          <p:grpSpPr>
            <a:xfrm>
              <a:off x="5974842" y="4872990"/>
              <a:ext cx="2012823" cy="636461"/>
              <a:chOff x="5974842" y="4872990"/>
              <a:chExt cx="2012823" cy="636461"/>
            </a:xfrm>
          </p:grpSpPr>
          <p:grpSp>
            <p:nvGrpSpPr>
              <p:cNvPr id="43" name="Group 43"/>
              <p:cNvGrpSpPr/>
              <p:nvPr/>
            </p:nvGrpSpPr>
            <p:grpSpPr>
              <a:xfrm>
                <a:off x="6032500" y="4894522"/>
                <a:ext cx="198178" cy="198178"/>
                <a:chOff x="6032500" y="4894522"/>
                <a:chExt cx="198178" cy="198178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6032500" y="4894522"/>
                  <a:ext cx="198178" cy="1981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78" h="198178">
                      <a:moveTo>
                        <a:pt x="0" y="198178"/>
                      </a:moveTo>
                      <a:lnTo>
                        <a:pt x="50800" y="198178"/>
                      </a:lnTo>
                      <a:lnTo>
                        <a:pt x="184150" y="64828"/>
                      </a:lnTo>
                      <a:cubicBezTo>
                        <a:pt x="198178" y="50800"/>
                        <a:pt x="198178" y="28056"/>
                        <a:pt x="184150" y="14028"/>
                      </a:cubicBezTo>
                      <a:cubicBezTo>
                        <a:pt x="170122" y="0"/>
                        <a:pt x="147378" y="0"/>
                        <a:pt x="133350" y="14028"/>
                      </a:cubicBezTo>
                      <a:lnTo>
                        <a:pt x="0" y="147378"/>
                      </a:lnTo>
                      <a:lnTo>
                        <a:pt x="0" y="198178"/>
                      </a:ln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153150" y="49212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0"/>
                      </a:moveTo>
                      <a:lnTo>
                        <a:pt x="50800" y="50800"/>
                      </a:ln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6467856" y="487299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支持用户修正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974842" y="52454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用户可直接修改索引结果</a:t>
                </a:r>
              </a:p>
            </p:txBody>
          </p:sp>
        </p:grpSp>
      </p:grpSp>
      <p:grpSp>
        <p:nvGrpSpPr>
          <p:cNvPr id="53" name="flow-zone"/>
          <p:cNvGrpSpPr/>
          <p:nvPr/>
        </p:nvGrpSpPr>
        <p:grpSpPr>
          <a:xfrm>
            <a:off x="755904" y="4747260"/>
            <a:ext cx="3835146" cy="834390"/>
            <a:chOff x="755904" y="4747260"/>
            <a:chExt cx="3835146" cy="834390"/>
          </a:xfrm>
        </p:grpSpPr>
        <p:sp>
          <p:nvSpPr>
            <p:cNvPr id="48" name="TextBox 48"/>
            <p:cNvSpPr txBox="1"/>
            <p:nvPr/>
          </p:nvSpPr>
          <p:spPr>
            <a:xfrm>
              <a:off x="755904" y="4747260"/>
              <a:ext cx="718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连接关系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762000" y="5067300"/>
              <a:ext cx="2000250" cy="514350"/>
            </a:xfrm>
            <a:prstGeom prst="chevron">
              <a:avLst/>
            </a:prstGeom>
            <a:solidFill>
              <a:srgbClr val="0F2B46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2590800" y="5067300"/>
              <a:ext cx="2000250" cy="514350"/>
            </a:xfrm>
            <a:prstGeom prst="chevron">
              <a:avLst/>
            </a:prstGeom>
            <a:solidFill>
              <a:srgbClr val="1E4C7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70849" y="5245418"/>
              <a:ext cx="5921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Pi 对话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023194" y="5245418"/>
              <a:ext cx="13450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PDF Blackboard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755904" y="6347460"/>
            <a:ext cx="10680192" cy="234696"/>
            <a:chOff x="755904" y="6347460"/>
            <a:chExt cx="10680192" cy="234696"/>
          </a:xfrm>
        </p:grpSpPr>
        <p:sp>
          <p:nvSpPr>
            <p:cNvPr id="54" name="TextBox 54"/>
            <p:cNvSpPr txBox="1"/>
            <p:nvPr/>
          </p:nvSpPr>
          <p:spPr>
            <a:xfrm>
              <a:off x="755904" y="6347460"/>
              <a:ext cx="25814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外脑 Demo · 面向面试官的能力说明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060430" y="634746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1 / 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zone-column"/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</p:sp>
      <p:grpSp>
        <p:nvGrpSpPr>
          <p:cNvPr id="6" name="header"/>
          <p:cNvGrpSpPr/>
          <p:nvPr/>
        </p:nvGrpSpPr>
        <p:grpSpPr>
          <a:xfrm>
            <a:off x="746760" y="708660"/>
            <a:ext cx="10683240" cy="811530"/>
            <a:chOff x="746760" y="708660"/>
            <a:chExt cx="10683240" cy="811530"/>
          </a:xfrm>
        </p:grpSpPr>
        <p:sp>
          <p:nvSpPr>
            <p:cNvPr id="3" name="TextBox 3"/>
            <p:cNvSpPr txBox="1"/>
            <p:nvPr/>
          </p:nvSpPr>
          <p:spPr>
            <a:xfrm>
              <a:off x="755904" y="708660"/>
              <a:ext cx="1883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外脑 DEMO · 能力二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6760" y="933450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会议分析与邮件确认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428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15" name="sequence-strip"/>
          <p:cNvGrpSpPr/>
          <p:nvPr/>
        </p:nvGrpSpPr>
        <p:grpSpPr>
          <a:xfrm>
            <a:off x="762000" y="1962150"/>
            <a:ext cx="6477000" cy="495300"/>
            <a:chOff x="762000" y="1962150"/>
            <a:chExt cx="6477000" cy="495300"/>
          </a:xfrm>
        </p:grpSpPr>
        <p:sp>
          <p:nvSpPr>
            <p:cNvPr id="7" name="Freeform 7"/>
            <p:cNvSpPr/>
            <p:nvPr/>
          </p:nvSpPr>
          <p:spPr>
            <a:xfrm>
              <a:off x="762000" y="1962150"/>
              <a:ext cx="2038350" cy="495300"/>
            </a:xfrm>
            <a:prstGeom prst="homePlate">
              <a:avLst/>
            </a:prstGeom>
            <a:solidFill>
              <a:srgbClr val="0F2B46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667000" y="1962150"/>
              <a:ext cx="2038350" cy="495300"/>
            </a:xfrm>
            <a:prstGeom prst="homePlate">
              <a:avLst/>
            </a:prstGeom>
            <a:solidFill>
              <a:srgbClr val="1E4C7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572000" y="1962150"/>
              <a:ext cx="2038350" cy="495300"/>
            </a:xfrm>
            <a:prstGeom prst="homePlate">
              <a:avLst/>
            </a:prstGeom>
            <a:solidFill>
              <a:srgbClr val="2E7BB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82243" y="2121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会议文本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68980" y="2121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92243" y="2121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用户确认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74942" y="2121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发送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81800" y="2209800"/>
              <a:ext cx="457200" cy="1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prstDash val="lgDash"/>
              <a:tailEnd type="triangle" w="lg" len="lg"/>
            </a:ln>
          </p:spPr>
        </p:sp>
      </p:grpSp>
      <p:grpSp>
        <p:nvGrpSpPr>
          <p:cNvPr id="58" name="analysis-outputs"/>
          <p:cNvGrpSpPr/>
          <p:nvPr/>
        </p:nvGrpSpPr>
        <p:grpSpPr>
          <a:xfrm>
            <a:off x="762000" y="2929890"/>
            <a:ext cx="5810250" cy="3204210"/>
            <a:chOff x="762000" y="2929890"/>
            <a:chExt cx="5810250" cy="3204210"/>
          </a:xfrm>
        </p:grpSpPr>
        <p:grpSp>
          <p:nvGrpSpPr>
            <p:cNvPr id="21" name="Group 21"/>
            <p:cNvGrpSpPr/>
            <p:nvPr/>
          </p:nvGrpSpPr>
          <p:grpSpPr>
            <a:xfrm>
              <a:off x="825500" y="2933700"/>
              <a:ext cx="177800" cy="228599"/>
              <a:chOff x="825500" y="2933700"/>
              <a:chExt cx="177800" cy="22859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39800" y="29337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25400">
                <a:solidFill>
                  <a:srgbClr val="0F2B4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5500" y="29337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25400">
                <a:solidFill>
                  <a:srgbClr val="0F2B4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6300" y="3048000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F2B46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14400" y="3098799"/>
                <a:ext cx="952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">
                    <a:moveTo>
                      <a:pt x="0" y="127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F2B46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52500" y="30734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381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F2B46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191006" y="2929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分析输出</a:t>
              </a:r>
            </a:p>
          </p:txBody>
        </p:sp>
        <p:grpSp>
          <p:nvGrpSpPr>
            <p:cNvPr id="33" name="out-facts"/>
            <p:cNvGrpSpPr/>
            <p:nvPr/>
          </p:nvGrpSpPr>
          <p:grpSpPr>
            <a:xfrm>
              <a:off x="762000" y="3333750"/>
              <a:ext cx="2762250" cy="1333500"/>
              <a:chOff x="762000" y="3333750"/>
              <a:chExt cx="2762250" cy="13335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62000" y="3333750"/>
                <a:ext cx="2762250" cy="133350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1041400" y="3638550"/>
                <a:ext cx="215899" cy="190499"/>
                <a:chOff x="1041400" y="3638550"/>
                <a:chExt cx="215899" cy="190499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1130300" y="370205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225549" y="3797299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0" y="0"/>
                      </a:moveTo>
                      <a:lnTo>
                        <a:pt x="31750" y="31750"/>
                      </a:ln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041400" y="3638550"/>
                  <a:ext cx="20319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9525">
                      <a:moveTo>
                        <a:pt x="0" y="0"/>
                      </a:move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041400" y="3714750"/>
                  <a:ext cx="50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9525">
                      <a:moveTo>
                        <a:pt x="0" y="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041400" y="3790949"/>
                  <a:ext cx="50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9525">
                      <a:moveTo>
                        <a:pt x="0" y="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1419606" y="359664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事实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83742" y="40452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整理会议中已明确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83742" y="4311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陈述的内容</a:t>
                </a:r>
              </a:p>
            </p:txBody>
          </p:sp>
        </p:grpSp>
        <p:grpSp>
          <p:nvGrpSpPr>
            <p:cNvPr id="42" name="out-risks"/>
            <p:cNvGrpSpPr/>
            <p:nvPr/>
          </p:nvGrpSpPr>
          <p:grpSpPr>
            <a:xfrm>
              <a:off x="3810000" y="3333750"/>
              <a:ext cx="2762250" cy="1333500"/>
              <a:chOff x="3810000" y="3333750"/>
              <a:chExt cx="2762250" cy="1333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10000" y="3333750"/>
                <a:ext cx="2762250" cy="133350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062919" y="3596231"/>
                <a:ext cx="256151" cy="220068"/>
                <a:chOff x="4062919" y="3596231"/>
                <a:chExt cx="256151" cy="220068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4191000" y="367665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5400">
                  <a:solidFill>
                    <a:srgbClr val="B45309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062919" y="3596231"/>
                  <a:ext cx="256151" cy="220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151" h="220068">
                      <a:moveTo>
                        <a:pt x="107291" y="11725"/>
                      </a:moveTo>
                      <a:lnTo>
                        <a:pt x="4345" y="183606"/>
                      </a:lnTo>
                      <a:cubicBezTo>
                        <a:pt x="26" y="191085"/>
                        <a:pt x="0" y="200293"/>
                        <a:pt x="4276" y="207796"/>
                      </a:cubicBezTo>
                      <a:cubicBezTo>
                        <a:pt x="8551" y="215299"/>
                        <a:pt x="16487" y="219971"/>
                        <a:pt x="25122" y="220068"/>
                      </a:cubicBezTo>
                      <a:lnTo>
                        <a:pt x="231039" y="220068"/>
                      </a:lnTo>
                      <a:cubicBezTo>
                        <a:pt x="239671" y="219968"/>
                        <a:pt x="247602" y="215299"/>
                        <a:pt x="251877" y="207800"/>
                      </a:cubicBezTo>
                      <a:cubicBezTo>
                        <a:pt x="256151" y="200300"/>
                        <a:pt x="256128" y="191097"/>
                        <a:pt x="251816" y="183619"/>
                      </a:cubicBezTo>
                      <a:lnTo>
                        <a:pt x="148870" y="11712"/>
                      </a:lnTo>
                      <a:cubicBezTo>
                        <a:pt x="144465" y="4441"/>
                        <a:pt x="136582" y="0"/>
                        <a:pt x="128081" y="0"/>
                      </a:cubicBezTo>
                      <a:cubicBezTo>
                        <a:pt x="119579" y="0"/>
                        <a:pt x="111696" y="4441"/>
                        <a:pt x="107291" y="11712"/>
                      </a:cubicBezTo>
                    </a:path>
                  </a:pathLst>
                </a:custGeom>
                <a:noFill/>
                <a:ln w="25400">
                  <a:solidFill>
                    <a:srgbClr val="B45309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191000" y="37655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27" y="0"/>
                      </a:lnTo>
                    </a:path>
                  </a:pathLst>
                </a:custGeom>
                <a:noFill/>
                <a:ln w="25400">
                  <a:solidFill>
                    <a:srgbClr val="B45309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4467606" y="359664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风险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031742" y="40452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标出会议中出现的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031742" y="43119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风险点</a:t>
                </a:r>
              </a:p>
            </p:txBody>
          </p:sp>
        </p:grpSp>
        <p:grpSp>
          <p:nvGrpSpPr>
            <p:cNvPr id="49" name="out-todos"/>
            <p:cNvGrpSpPr/>
            <p:nvPr/>
          </p:nvGrpSpPr>
          <p:grpSpPr>
            <a:xfrm>
              <a:off x="762000" y="4857750"/>
              <a:ext cx="2762250" cy="1276350"/>
              <a:chOff x="762000" y="4857750"/>
              <a:chExt cx="2762250" cy="12763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762000" y="4857750"/>
                <a:ext cx="2762250" cy="127635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1041400" y="5137150"/>
                <a:ext cx="203200" cy="203199"/>
                <a:chOff x="1041400" y="5137150"/>
                <a:chExt cx="203200" cy="203199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1104900" y="5162550"/>
                  <a:ext cx="1397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101600">
                      <a:moveTo>
                        <a:pt x="0" y="63500"/>
                      </a:moveTo>
                      <a:lnTo>
                        <a:pt x="38100" y="101600"/>
                      </a:lnTo>
                      <a:lnTo>
                        <a:pt x="139700" y="0"/>
                      </a:ln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1041400" y="5137150"/>
                  <a:ext cx="203199" cy="2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203199">
                      <a:moveTo>
                        <a:pt x="203199" y="101600"/>
                      </a:moveTo>
                      <a:lnTo>
                        <a:pt x="203199" y="177800"/>
                      </a:lnTo>
                      <a:cubicBezTo>
                        <a:pt x="203199" y="191828"/>
                        <a:pt x="191828" y="203199"/>
                        <a:pt x="177800" y="203199"/>
                      </a:cubicBezTo>
                      <a:lnTo>
                        <a:pt x="25400" y="203199"/>
                      </a:lnTo>
                      <a:cubicBezTo>
                        <a:pt x="11372" y="203199"/>
                        <a:pt x="0" y="191828"/>
                        <a:pt x="0" y="177800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39700" y="0"/>
                      </a:ln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1419606" y="512064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待办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83742" y="5569268"/>
                <a:ext cx="1213866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汇总需要跟进的</a:t>
                </a:r>
                <a:br/>
                <a:r>
                  <a:rPr lang="zh-CN" sz="13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事项</a:t>
                </a:r>
              </a:p>
            </p:txBody>
          </p:sp>
        </p:grpSp>
        <p:grpSp>
          <p:nvGrpSpPr>
            <p:cNvPr id="57" name="out-mail"/>
            <p:cNvGrpSpPr/>
            <p:nvPr/>
          </p:nvGrpSpPr>
          <p:grpSpPr>
            <a:xfrm>
              <a:off x="3810000" y="4857750"/>
              <a:ext cx="2762250" cy="1276350"/>
              <a:chOff x="3810000" y="4857750"/>
              <a:chExt cx="2762250" cy="12763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3810000" y="4857750"/>
                <a:ext cx="2762250" cy="127635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4076700" y="5149850"/>
                <a:ext cx="228600" cy="203199"/>
                <a:chOff x="4076700" y="5149850"/>
                <a:chExt cx="228600" cy="203199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4076700" y="5149850"/>
                  <a:ext cx="228599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77800">
                      <a:moveTo>
                        <a:pt x="101600" y="177800"/>
                      </a:moveTo>
                      <a:lnTo>
                        <a:pt x="25400" y="177800"/>
                      </a:lnTo>
                      <a:cubicBezTo>
                        <a:pt x="11372" y="177800"/>
                        <a:pt x="0" y="166428"/>
                        <a:pt x="0" y="152400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203199" y="0"/>
                      </a:lnTo>
                      <a:cubicBezTo>
                        <a:pt x="217227" y="0"/>
                        <a:pt x="228599" y="11372"/>
                        <a:pt x="228599" y="25400"/>
                      </a:cubicBezTo>
                      <a:lnTo>
                        <a:pt x="228599" y="101600"/>
                      </a:ln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076700" y="5175250"/>
                  <a:ext cx="228599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76200">
                      <a:moveTo>
                        <a:pt x="0" y="0"/>
                      </a:moveTo>
                      <a:lnTo>
                        <a:pt x="114300" y="76200"/>
                      </a:lnTo>
                      <a:lnTo>
                        <a:pt x="228599" y="0"/>
                      </a:ln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4229100" y="5302249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rgbClr val="1565C0"/>
                  </a:solidFill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4467606" y="51206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邮件草稿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031742" y="5569268"/>
                <a:ext cx="1385316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基于会议分析生成</a:t>
                </a:r>
                <a:br/>
                <a:r>
                  <a:rPr lang="zh-CN" sz="13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可发送的草稿</a:t>
                </a:r>
              </a:p>
            </p:txBody>
          </p:sp>
        </p:grpSp>
      </p:grpSp>
      <p:grpSp>
        <p:nvGrpSpPr>
          <p:cNvPr id="73" name="confirm-gate"/>
          <p:cNvGrpSpPr/>
          <p:nvPr/>
        </p:nvGrpSpPr>
        <p:grpSpPr>
          <a:xfrm>
            <a:off x="7039356" y="2857500"/>
            <a:ext cx="4390644" cy="2899601"/>
            <a:chOff x="7039356" y="2857500"/>
            <a:chExt cx="4390644" cy="2899601"/>
          </a:xfrm>
        </p:grpSpPr>
        <p:sp>
          <p:nvSpPr>
            <p:cNvPr id="59" name="Rectangle 59"/>
            <p:cNvSpPr/>
            <p:nvPr/>
          </p:nvSpPr>
          <p:spPr>
            <a:xfrm>
              <a:off x="7048500" y="2857500"/>
              <a:ext cx="43815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096125" y="3222625"/>
              <a:ext cx="285751" cy="254001"/>
              <a:chOff x="7096125" y="3222625"/>
              <a:chExt cx="285751" cy="254001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096125" y="3222625"/>
                <a:ext cx="285751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22250">
                    <a:moveTo>
                      <a:pt x="127000" y="222250"/>
                    </a:moveTo>
                    <a:lnTo>
                      <a:pt x="31750" y="222250"/>
                    </a:lnTo>
                    <a:cubicBezTo>
                      <a:pt x="14215" y="222250"/>
                      <a:pt x="0" y="208035"/>
                      <a:pt x="0" y="19050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254001" y="0"/>
                    </a:lnTo>
                    <a:cubicBezTo>
                      <a:pt x="271536" y="0"/>
                      <a:pt x="285751" y="14215"/>
                      <a:pt x="285751" y="31750"/>
                    </a:cubicBezTo>
                    <a:lnTo>
                      <a:pt x="285751" y="127000"/>
                    </a:lnTo>
                  </a:path>
                </a:pathLst>
              </a:custGeom>
              <a:noFill/>
              <a:ln w="31750">
                <a:solidFill>
                  <a:srgbClr val="0F2B46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096125" y="3254375"/>
                <a:ext cx="285751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0">
                    <a:moveTo>
                      <a:pt x="0" y="0"/>
                    </a:moveTo>
                    <a:lnTo>
                      <a:pt x="142875" y="95250"/>
                    </a:ln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rgbClr val="0F2B46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86625" y="3413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0F2B46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551420" y="3205162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确认后才发送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39356" y="3729990"/>
              <a:ext cx="2990088" cy="733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8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邮件草稿只作为待确认结果，</a:t>
              </a:r>
              <a:br/>
              <a:r>
                <a:rPr lang="zh-CN" sz="18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经用户确认之后才发送出去。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7048500" y="46863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082525" y="4991100"/>
              <a:ext cx="232675" cy="232674"/>
              <a:chOff x="7082525" y="4991100"/>
              <a:chExt cx="232675" cy="23267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175500" y="4991100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139700"/>
                    </a:moveTo>
                    <a:lnTo>
                      <a:pt x="139700" y="0"/>
                    </a:lnTo>
                  </a:path>
                </a:pathLst>
              </a:custGeom>
              <a:noFill/>
              <a:ln w="25400">
                <a:solidFill>
                  <a:srgbClr val="64748B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082525" y="4991100"/>
                <a:ext cx="232674" cy="232674"/>
              </a:xfrm>
              <a:custGeom>
                <a:avLst/>
                <a:gdLst/>
                <a:ahLst/>
                <a:cxnLst/>
                <a:rect l="l" t="t" r="r" b="b"/>
                <a:pathLst>
                  <a:path w="232674" h="232674">
                    <a:moveTo>
                      <a:pt x="232674" y="0"/>
                    </a:moveTo>
                    <a:lnTo>
                      <a:pt x="150125" y="228599"/>
                    </a:lnTo>
                    <a:cubicBezTo>
                      <a:pt x="148987" y="231082"/>
                      <a:pt x="146506" y="232674"/>
                      <a:pt x="143775" y="232674"/>
                    </a:cubicBezTo>
                    <a:cubicBezTo>
                      <a:pt x="141043" y="232674"/>
                      <a:pt x="138563" y="231082"/>
                      <a:pt x="137425" y="228599"/>
                    </a:cubicBezTo>
                    <a:lnTo>
                      <a:pt x="92975" y="139700"/>
                    </a:lnTo>
                    <a:lnTo>
                      <a:pt x="4075" y="95250"/>
                    </a:lnTo>
                    <a:cubicBezTo>
                      <a:pt x="1592" y="94112"/>
                      <a:pt x="0" y="91631"/>
                      <a:pt x="0" y="88900"/>
                    </a:cubicBezTo>
                    <a:cubicBezTo>
                      <a:pt x="0" y="86168"/>
                      <a:pt x="1592" y="83688"/>
                      <a:pt x="4075" y="82550"/>
                    </a:cubicBezTo>
                    <a:lnTo>
                      <a:pt x="232674" y="0"/>
                    </a:lnTo>
                  </a:path>
                </a:pathLst>
              </a:custGeom>
              <a:noFill/>
              <a:ln w="25400">
                <a:solidFill>
                  <a:srgbClr val="64748B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477506" y="49872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发送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41642" y="54930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草稿在用户确认之前不会发出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7486650" y="52959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CBD5E1"/>
              </a:solidFill>
              <a:prstDash val="dash"/>
            </a:ln>
          </p:spPr>
        </p:sp>
      </p:grpSp>
      <p:grpSp>
        <p:nvGrpSpPr>
          <p:cNvPr id="76" name="footer"/>
          <p:cNvGrpSpPr/>
          <p:nvPr/>
        </p:nvGrpSpPr>
        <p:grpSpPr>
          <a:xfrm>
            <a:off x="755904" y="6347460"/>
            <a:ext cx="10680192" cy="234696"/>
            <a:chOff x="755904" y="6347460"/>
            <a:chExt cx="10680192" cy="234696"/>
          </a:xfrm>
        </p:grpSpPr>
        <p:sp>
          <p:nvSpPr>
            <p:cNvPr id="74" name="TextBox 74"/>
            <p:cNvSpPr txBox="1"/>
            <p:nvPr/>
          </p:nvSpPr>
          <p:spPr>
            <a:xfrm>
              <a:off x="755904" y="6347460"/>
              <a:ext cx="25814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外脑 Demo · 面向面试官的能力说明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060430" y="634746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2 / 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_d8f8bfef99a44c92b395f779e430e8b8">
  <a:themeElements>
    <a:clrScheme name="ppt_d8f8bfef99a44c92b395f779e430e8b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_d8f8bfef99a44c92b395f779e430e8b8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d8f8bfef99a44c92b395f779e430e8b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2026-09-24T13:49:48Z</dcterms:created>
  <dcterms:modified xsi:type="dcterms:W3CDTF">2026-09-24T13:49:48Z</dcterms:modified>
  <cp:category/>
  <cp:contentStatus/>
</cp:coreProperties>
</file>